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61" r:id="rId5"/>
    <p:sldId id="259" r:id="rId6"/>
    <p:sldId id="258" r:id="rId7"/>
    <p:sldId id="266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A3FF"/>
    <a:srgbClr val="6ECBFF"/>
    <a:srgbClr val="9AD94F"/>
    <a:srgbClr val="FF7F66"/>
    <a:srgbClr val="F0C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7662B-9EE1-43A4-8E77-472290A07E90}" v="3" dt="2026-06-07T14:58:40.987"/>
    <p1510:client id="{BA1E897F-534A-4FFA-BE30-49E9ACBF891F}" v="22" dt="2026-06-07T14:40:26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sdus1345@outlook.kr" userId="c56890d2041dcded" providerId="LiveId" clId="{9276559C-7065-4E6E-9255-95F5AAF8610D}"/>
    <pc:docChg chg="undo custSel modSld">
      <pc:chgData name="wisdus1345@outlook.kr" userId="c56890d2041dcded" providerId="LiveId" clId="{9276559C-7065-4E6E-9255-95F5AAF8610D}" dt="2026-06-07T14:58:58.100" v="109" actId="1076"/>
      <pc:docMkLst>
        <pc:docMk/>
      </pc:docMkLst>
      <pc:sldChg chg="modSp mod">
        <pc:chgData name="wisdus1345@outlook.kr" userId="c56890d2041dcded" providerId="LiveId" clId="{9276559C-7065-4E6E-9255-95F5AAF8610D}" dt="2026-06-07T14:56:43.318" v="83" actId="255"/>
        <pc:sldMkLst>
          <pc:docMk/>
          <pc:sldMk cId="0" sldId="257"/>
        </pc:sldMkLst>
        <pc:spChg chg="mod">
          <ac:chgData name="wisdus1345@outlook.kr" userId="c56890d2041dcded" providerId="LiveId" clId="{9276559C-7065-4E6E-9255-95F5AAF8610D}" dt="2026-06-07T14:56:43.318" v="83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6:42.551" v="80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6:43.059" v="82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6:42.781" v="81" actId="255"/>
          <ac:spMkLst>
            <pc:docMk/>
            <pc:sldMk cId="0" sldId="257"/>
            <ac:spMk id="15" creationId="{00000000-0000-0000-0000-000000000000}"/>
          </ac:spMkLst>
        </pc:spChg>
      </pc:sldChg>
      <pc:sldChg chg="addSp delSp modSp mod">
        <pc:chgData name="wisdus1345@outlook.kr" userId="c56890d2041dcded" providerId="LiveId" clId="{9276559C-7065-4E6E-9255-95F5AAF8610D}" dt="2026-06-07T14:58:58.100" v="109" actId="1076"/>
        <pc:sldMkLst>
          <pc:docMk/>
          <pc:sldMk cId="0" sldId="259"/>
        </pc:sldMkLst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5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7:39.907" v="91" actId="255"/>
          <ac:spMkLst>
            <pc:docMk/>
            <pc:sldMk cId="0" sldId="259"/>
            <ac:spMk id="6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7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9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7:43.289" v="92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7:45.822" v="93" actId="255"/>
          <ac:spMkLst>
            <pc:docMk/>
            <pc:sldMk cId="0" sldId="259"/>
            <ac:spMk id="11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13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7:51.499" v="95" actId="255"/>
          <ac:spMkLst>
            <pc:docMk/>
            <pc:sldMk cId="0" sldId="259"/>
            <ac:spMk id="15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8:58.100" v="109" actId="1076"/>
          <ac:spMkLst>
            <pc:docMk/>
            <pc:sldMk cId="0" sldId="259"/>
            <ac:spMk id="19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8:26.184" v="104" actId="255"/>
          <ac:spMkLst>
            <pc:docMk/>
            <pc:sldMk cId="0" sldId="259"/>
            <ac:spMk id="23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24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25" creationId="{00000000-0000-0000-0000-000000000000}"/>
          </ac:spMkLst>
        </pc:spChg>
        <pc:spChg chg="mod topLvl">
          <ac:chgData name="wisdus1345@outlook.kr" userId="c56890d2041dcded" providerId="LiveId" clId="{9276559C-7065-4E6E-9255-95F5AAF8610D}" dt="2026-06-07T14:58:40.987" v="107" actId="16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wisdus1345@outlook.kr" userId="c56890d2041dcded" providerId="LiveId" clId="{9276559C-7065-4E6E-9255-95F5AAF8610D}" dt="2026-06-07T14:58:31.174" v="106" actId="255"/>
          <ac:spMkLst>
            <pc:docMk/>
            <pc:sldMk cId="0" sldId="259"/>
            <ac:spMk id="27" creationId="{00000000-0000-0000-0000-000000000000}"/>
          </ac:spMkLst>
        </pc:spChg>
        <pc:grpChg chg="mod">
          <ac:chgData name="wisdus1345@outlook.kr" userId="c56890d2041dcded" providerId="LiveId" clId="{9276559C-7065-4E6E-9255-95F5AAF8610D}" dt="2026-06-07T14:57:29.623" v="88" actId="1076"/>
          <ac:grpSpMkLst>
            <pc:docMk/>
            <pc:sldMk cId="0" sldId="259"/>
            <ac:grpSpMk id="2" creationId="{84BBA215-5842-1EC6-2661-108D0F0789EE}"/>
          </ac:grpSpMkLst>
        </pc:grpChg>
      </pc:sldChg>
      <pc:sldChg chg="modSp mod">
        <pc:chgData name="wisdus1345@outlook.kr" userId="c56890d2041dcded" providerId="LiveId" clId="{9276559C-7065-4E6E-9255-95F5AAF8610D}" dt="2026-06-07T14:56:45.956" v="85" actId="20577"/>
        <pc:sldMkLst>
          <pc:docMk/>
          <pc:sldMk cId="2288079065" sldId="265"/>
        </pc:sldMkLst>
        <pc:spChg chg="mod">
          <ac:chgData name="wisdus1345@outlook.kr" userId="c56890d2041dcded" providerId="LiveId" clId="{9276559C-7065-4E6E-9255-95F5AAF8610D}" dt="2026-06-07T14:56:45.956" v="85" actId="20577"/>
          <ac:spMkLst>
            <pc:docMk/>
            <pc:sldMk cId="2288079065" sldId="265"/>
            <ac:spMk id="7" creationId="{69935731-7B34-A5FF-07C5-98179AA22F68}"/>
          </ac:spMkLst>
        </pc:spChg>
        <pc:spChg chg="mod">
          <ac:chgData name="wisdus1345@outlook.kr" userId="c56890d2041dcded" providerId="LiveId" clId="{9276559C-7065-4E6E-9255-95F5AAF8610D}" dt="2026-06-07T14:55:35.244" v="63" actId="14100"/>
          <ac:spMkLst>
            <pc:docMk/>
            <pc:sldMk cId="2288079065" sldId="265"/>
            <ac:spMk id="8" creationId="{CB8ABCEA-9E7C-E457-AB7D-67374F9EABD4}"/>
          </ac:spMkLst>
        </pc:spChg>
        <pc:spChg chg="mod">
          <ac:chgData name="wisdus1345@outlook.kr" userId="c56890d2041dcded" providerId="LiveId" clId="{9276559C-7065-4E6E-9255-95F5AAF8610D}" dt="2026-06-07T14:56:15.341" v="72" actId="20577"/>
          <ac:spMkLst>
            <pc:docMk/>
            <pc:sldMk cId="2288079065" sldId="265"/>
            <ac:spMk id="11" creationId="{1CF65524-3227-F70F-6C6D-898F04F54E3F}"/>
          </ac:spMkLst>
        </pc:spChg>
        <pc:spChg chg="mod">
          <ac:chgData name="wisdus1345@outlook.kr" userId="c56890d2041dcded" providerId="LiveId" clId="{9276559C-7065-4E6E-9255-95F5AAF8610D}" dt="2026-06-07T14:55:47.067" v="66" actId="14100"/>
          <ac:spMkLst>
            <pc:docMk/>
            <pc:sldMk cId="2288079065" sldId="265"/>
            <ac:spMk id="12" creationId="{D3CDAB1A-A670-F065-0E28-5C2F58FDA197}"/>
          </ac:spMkLst>
        </pc:spChg>
        <pc:spChg chg="mod">
          <ac:chgData name="wisdus1345@outlook.kr" userId="c56890d2041dcded" providerId="LiveId" clId="{9276559C-7065-4E6E-9255-95F5AAF8610D}" dt="2026-06-07T14:56:17.816" v="73" actId="20577"/>
          <ac:spMkLst>
            <pc:docMk/>
            <pc:sldMk cId="2288079065" sldId="265"/>
            <ac:spMk id="15" creationId="{0F71ABBE-C738-6330-5552-3BE61BD797C0}"/>
          </ac:spMkLst>
        </pc:spChg>
        <pc:spChg chg="mod">
          <ac:chgData name="wisdus1345@outlook.kr" userId="c56890d2041dcded" providerId="LiveId" clId="{9276559C-7065-4E6E-9255-95F5AAF8610D}" dt="2026-06-07T14:55:59.143" v="69" actId="14100"/>
          <ac:spMkLst>
            <pc:docMk/>
            <pc:sldMk cId="2288079065" sldId="265"/>
            <ac:spMk id="16" creationId="{D4770C9E-E4BB-FC1A-9F68-68D220D6FBAB}"/>
          </ac:spMkLst>
        </pc:spChg>
      </pc:sldChg>
      <pc:sldChg chg="modSp mod">
        <pc:chgData name="wisdus1345@outlook.kr" userId="c56890d2041dcded" providerId="LiveId" clId="{9276559C-7065-4E6E-9255-95F5AAF8610D}" dt="2026-06-07T14:54:11.768" v="0" actId="20577"/>
        <pc:sldMkLst>
          <pc:docMk/>
          <pc:sldMk cId="4024995725" sldId="266"/>
        </pc:sldMkLst>
        <pc:spChg chg="mod">
          <ac:chgData name="wisdus1345@outlook.kr" userId="c56890d2041dcded" providerId="LiveId" clId="{9276559C-7065-4E6E-9255-95F5AAF8610D}" dt="2026-06-07T14:54:11.768" v="0" actId="20577"/>
          <ac:spMkLst>
            <pc:docMk/>
            <pc:sldMk cId="4024995725" sldId="266"/>
            <ac:spMk id="2" creationId="{9A991623-39EB-7BD4-D051-58DBEA79FCA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0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CFDC-0F3A-3135-BF20-B8F6800A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56682-A8D8-5371-655D-478F2F66B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3F28E-2870-0987-6EAF-8D75EC330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7BE44-DF8D-B840-D8B7-2F941A06B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68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3D904-0938-2FCB-8AE5-E84AB19B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6E8E3-1F4A-2E60-2469-26B996033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CE5D3-8E75-A83D-A86B-93641AD3F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08038-208A-F576-ACD4-413724729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53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5A11A-5E75-662D-ABB1-B4C60288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320BA-B809-0A04-50D3-1B48BB25F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19E97-CFBA-51C4-2A8A-FE93B0E31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BCEE2-7EF6-8086-D590-DA372B342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6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isdus1345/circuit_lab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45D6B4">
              <a:alpha val="12000"/>
            </a:srgbClr>
          </a:solidFill>
          <a:ln w="12700">
            <a:solidFill>
              <a:srgbClr val="45D6B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4DA3FF">
              <a:alpha val="10000"/>
            </a:srgbClr>
          </a:solidFill>
          <a:ln w="12700">
            <a:solidFill>
              <a:srgbClr val="4DA3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10973"/>
          </a:xfrm>
          <a:prstGeom prst="rect">
            <a:avLst/>
          </a:prstGeom>
          <a:solidFill>
            <a:srgbClr val="45D6B4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737360" cy="347472"/>
          </a:xfrm>
          <a:prstGeom prst="rect">
            <a:avLst/>
          </a:prstGeom>
          <a:solidFill>
            <a:srgbClr val="45D6B4">
              <a:alpha val="25000"/>
            </a:srgbClr>
          </a:solidFill>
          <a:ln w="12700">
            <a:solidFill>
              <a:srgbClr val="45D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D6B4"/>
                </a:solidFill>
              </a:rPr>
              <a:t>Python · tkinter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Lab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5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회로 실습 시뮬레이터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발표자</a:t>
            </a:r>
            <a:r>
              <a:rPr lang="en-US" altLang="ko-KR" sz="1400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ko-KR" altLang="en-US" sz="1400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박세원</a:t>
            </a:r>
            <a:r>
              <a:rPr lang="en-US" altLang="ko-KR" sz="1400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조예준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1325880" cy="384048"/>
          </a:xfrm>
          <a:prstGeom prst="rect">
            <a:avLst/>
          </a:prstGeom>
          <a:solidFill>
            <a:srgbClr val="45D6B4">
              <a:alpha val="20000"/>
            </a:srgbClr>
          </a:solidFill>
          <a:ln w="12700">
            <a:solidFill>
              <a:srgbClr val="45D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5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Wheatstone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92808" y="3931920"/>
            <a:ext cx="1325880" cy="384048"/>
          </a:xfrm>
          <a:prstGeom prst="rect">
            <a:avLst/>
          </a:prstGeom>
          <a:solidFill>
            <a:srgbClr val="FF7F66">
              <a:alpha val="20000"/>
            </a:srgbClr>
          </a:solidFill>
          <a:ln w="12700">
            <a:solidFill>
              <a:srgbClr val="FF7F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892808" y="3931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28416" y="3931920"/>
            <a:ext cx="1325880" cy="384048"/>
          </a:xfrm>
          <a:prstGeom prst="rect">
            <a:avLst/>
          </a:prstGeom>
          <a:solidFill>
            <a:srgbClr val="F0C95A">
              <a:alpha val="20000"/>
            </a:srgbClr>
          </a:solidFill>
          <a:ln w="12700">
            <a:solidFill>
              <a:srgbClr val="F0C9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28416" y="3931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64024" y="3931920"/>
            <a:ext cx="1325880" cy="384048"/>
          </a:xfrm>
          <a:prstGeom prst="rect">
            <a:avLst/>
          </a:prstGeom>
          <a:solidFill>
            <a:srgbClr val="6ECBFF">
              <a:alpha val="20000"/>
            </a:srgbClr>
          </a:solidFill>
          <a:ln w="12700">
            <a:solidFill>
              <a:srgbClr val="6EC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64024" y="3931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트랜지스터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9632" y="3931920"/>
            <a:ext cx="1325880" cy="384048"/>
          </a:xfrm>
          <a:prstGeom prst="rect">
            <a:avLst/>
          </a:prstGeom>
          <a:solidFill>
            <a:srgbClr val="9AD94F">
              <a:alpha val="20000"/>
            </a:srgbClr>
          </a:solidFill>
          <a:ln w="12700">
            <a:solidFill>
              <a:srgbClr val="9AD9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199632" y="3931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D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회로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35240" y="3931920"/>
            <a:ext cx="1325880" cy="384048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635240" y="3931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PSpice Lite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5D6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</a:t>
            </a:r>
            <a:r>
              <a:rPr lang="en-US" sz="1400" dirty="0" err="1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Lab은</a:t>
            </a:r>
            <a:r>
              <a:rPr lang="en-US" sz="14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회로 이론을 직접 체험하는 데스크톱 학습 시뮬레이터입니다.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108960"/>
          </a:xfrm>
          <a:prstGeom prst="rect">
            <a:avLst/>
          </a:prstGeom>
          <a:solidFill>
            <a:srgbClr val="1A1F1D"/>
          </a:solidFill>
          <a:ln w="19050">
            <a:solidFill>
              <a:srgbClr val="45D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45D6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6791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5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329732"/>
            <a:ext cx="2377440" cy="110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수업 후 실제 파라미터를</a:t>
            </a:r>
            <a:endParaRPr lang="en-US" sz="1400" b="1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조작하며 개념을 직관적으로</a:t>
            </a:r>
            <a:endParaRPr lang="en-US" sz="1400" b="1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체득하는 실습 환경 제공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3108960"/>
          </a:xfrm>
          <a:prstGeom prst="rect">
            <a:avLst/>
          </a:prstGeom>
          <a:solidFill>
            <a:srgbClr val="1A1F1D"/>
          </a:solidFill>
          <a:ln w="19050">
            <a:solidFill>
              <a:srgbClr val="FF7F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743200" cy="54864"/>
          </a:xfrm>
          <a:prstGeom prst="rect">
            <a:avLst/>
          </a:prstGeom>
          <a:solidFill>
            <a:srgbClr val="FF7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6791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2000" dirty="0">
              <a:solidFill>
                <a:srgbClr val="FF7F66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0" y="2329732"/>
            <a:ext cx="2377440" cy="1029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tkinter</a:t>
            </a:r>
            <a:endParaRPr lang="en-US" sz="1400" b="1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</a:t>
            </a:r>
            <a:r>
              <a:rPr lang="en-US" sz="1400" b="1" dirty="0" err="1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</a:t>
            </a: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라이브러리만</a:t>
            </a: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활용</a:t>
            </a:r>
            <a:endParaRPr lang="en-US" sz="1400" b="1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의존성 Zero</a:t>
            </a:r>
            <a:endParaRPr lang="en-US" sz="1400" b="1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743200" cy="3108960"/>
          </a:xfrm>
          <a:prstGeom prst="rect">
            <a:avLst/>
          </a:prstGeom>
          <a:solidFill>
            <a:srgbClr val="1A1F1D"/>
          </a:solidFill>
          <a:ln w="19050">
            <a:solidFill>
              <a:srgbClr val="F0C9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743200" cy="54864"/>
          </a:xfrm>
          <a:prstGeom prst="rect">
            <a:avLst/>
          </a:prstGeom>
          <a:solidFill>
            <a:srgbClr val="F0C9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63640" y="16791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C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000" dirty="0">
              <a:solidFill>
                <a:srgbClr val="F0C95A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2361537"/>
            <a:ext cx="2377440" cy="966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화면 → 회로 페이지</a:t>
            </a:r>
            <a:endParaRPr lang="en-US" sz="1400" b="1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회로는 독립 모듈로 구성</a:t>
            </a:r>
            <a:endParaRPr lang="en-US" sz="1400" b="1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롤링 그래프 내장</a:t>
            </a:r>
            <a:endParaRPr lang="en-US" sz="1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BD016-1AE3-EFD6-65D4-738D38B2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2E59623-8B98-45DC-9EBE-0B21E5E0E29D}"/>
              </a:ext>
            </a:extLst>
          </p:cNvPr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EEF5EF"/>
                </a:solidFill>
                <a:latin typeface="Calibri" pitchFamily="34" charset="0"/>
                <a:cs typeface="Calibri" pitchFamily="34" charset="-120"/>
              </a:rPr>
              <a:t>수정사항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5986D6-28EB-0EE2-B48E-319CFDFFEAE4}"/>
              </a:ext>
            </a:extLst>
          </p:cNvPr>
          <p:cNvSpPr/>
          <p:nvPr/>
        </p:nvSpPr>
        <p:spPr>
          <a:xfrm>
            <a:off x="3200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회로 계산 엔진 고도화 및 오류 진단 기능 개발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3911FCE-549C-A7D4-C2CB-19C639A275CA}"/>
              </a:ext>
            </a:extLst>
          </p:cNvPr>
          <p:cNvSpPr/>
          <p:nvPr/>
        </p:nvSpPr>
        <p:spPr>
          <a:xfrm>
            <a:off x="320040" y="1325880"/>
            <a:ext cx="2743200" cy="3108960"/>
          </a:xfrm>
          <a:prstGeom prst="rect">
            <a:avLst/>
          </a:prstGeom>
          <a:solidFill>
            <a:srgbClr val="1A1F1D"/>
          </a:solidFill>
          <a:ln w="19050">
            <a:solidFill>
              <a:srgbClr val="6EC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5337554-A21E-16B9-8B5E-1DA97AEFF8D7}"/>
              </a:ext>
            </a:extLst>
          </p:cNvPr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6ECB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935731-7B34-A5FF-07C5-98179AA22F68}"/>
              </a:ext>
            </a:extLst>
          </p:cNvPr>
          <p:cNvSpPr/>
          <p:nvPr/>
        </p:nvSpPr>
        <p:spPr>
          <a:xfrm>
            <a:off x="502920" y="160755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6ECBFF"/>
                </a:solidFill>
                <a:latin typeface="Calibri" pitchFamily="34" charset="0"/>
                <a:cs typeface="Calibri" pitchFamily="34" charset="-120"/>
              </a:rPr>
              <a:t>가상회로 실험의 </a:t>
            </a:r>
            <a:endParaRPr lang="en-US" altLang="ko-KR" sz="1600" b="1" dirty="0">
              <a:solidFill>
                <a:srgbClr val="6ECB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600" b="1" dirty="0">
                <a:solidFill>
                  <a:srgbClr val="6ECBFF"/>
                </a:solidFill>
                <a:latin typeface="Calibri" pitchFamily="34" charset="0"/>
                <a:cs typeface="Calibri" pitchFamily="34" charset="-120"/>
              </a:rPr>
              <a:t>정확도 극대화</a:t>
            </a:r>
            <a:endParaRPr lang="en-US" sz="1600" dirty="0">
              <a:solidFill>
                <a:srgbClr val="6ECBFF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8ABCEA-9E7C-E457-AB7D-67374F9EABD4}"/>
              </a:ext>
            </a:extLst>
          </p:cNvPr>
          <p:cNvSpPr/>
          <p:nvPr/>
        </p:nvSpPr>
        <p:spPr>
          <a:xfrm>
            <a:off x="502920" y="2571750"/>
            <a:ext cx="2377440" cy="186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계산 오차 해결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인덕터</a:t>
            </a:r>
            <a:r>
              <a:rPr lang="en-US" altLang="ko-KR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</a:t>
            </a:r>
            <a:r>
              <a:rPr lang="en-US" altLang="ko-KR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정상화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시작 조건 설정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endParaRPr lang="en-US" sz="1200" b="1" dirty="0">
              <a:solidFill>
                <a:srgbClr val="A5B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회로 실험실 수준의 정확하고 다양한 파형 관찰 가능</a:t>
            </a:r>
            <a:endParaRPr lang="en-US" sz="1200" b="1" dirty="0">
              <a:solidFill>
                <a:srgbClr val="A5B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4C206A1-47C8-73E5-2AE0-0521EA5B5C91}"/>
              </a:ext>
            </a:extLst>
          </p:cNvPr>
          <p:cNvSpPr/>
          <p:nvPr/>
        </p:nvSpPr>
        <p:spPr>
          <a:xfrm>
            <a:off x="3200400" y="1325880"/>
            <a:ext cx="2743200" cy="3108960"/>
          </a:xfrm>
          <a:prstGeom prst="rect">
            <a:avLst/>
          </a:prstGeom>
          <a:solidFill>
            <a:srgbClr val="1A1F1D"/>
          </a:solidFill>
          <a:ln w="19050">
            <a:solidFill>
              <a:srgbClr val="9AD9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B3D7A8-FCEE-7286-1467-E015126CE34F}"/>
              </a:ext>
            </a:extLst>
          </p:cNvPr>
          <p:cNvSpPr/>
          <p:nvPr/>
        </p:nvSpPr>
        <p:spPr>
          <a:xfrm>
            <a:off x="3200400" y="1325880"/>
            <a:ext cx="2743200" cy="54864"/>
          </a:xfrm>
          <a:prstGeom prst="rect">
            <a:avLst/>
          </a:prstGeom>
          <a:solidFill>
            <a:srgbClr val="9AD9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F65524-3227-F70F-6C6D-898F04F54E3F}"/>
              </a:ext>
            </a:extLst>
          </p:cNvPr>
          <p:cNvSpPr/>
          <p:nvPr/>
        </p:nvSpPr>
        <p:spPr>
          <a:xfrm>
            <a:off x="3383280" y="160755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9AD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주파수 변화에 따른 </a:t>
            </a:r>
            <a:endParaRPr lang="en-US" altLang="ko-KR" sz="1600" b="1" dirty="0">
              <a:solidFill>
                <a:srgbClr val="9AD9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600" b="1" dirty="0">
                <a:solidFill>
                  <a:srgbClr val="9AD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구현</a:t>
            </a:r>
            <a:endParaRPr lang="en-US" sz="1600" dirty="0">
              <a:solidFill>
                <a:srgbClr val="9AD94F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CDAB1A-A670-F065-0E28-5C2F58FDA197}"/>
              </a:ext>
            </a:extLst>
          </p:cNvPr>
          <p:cNvSpPr/>
          <p:nvPr/>
        </p:nvSpPr>
        <p:spPr>
          <a:xfrm>
            <a:off x="3383280" y="2571750"/>
            <a:ext cx="2377440" cy="186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 주파수 해석 기능 도입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필터 회로 검증 가능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endParaRPr lang="en-US" altLang="ko-KR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endParaRPr lang="en-US" altLang="ko-KR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시간 흐름 뿐만 아니라 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주파수 영역까지 해석 </a:t>
            </a:r>
            <a:r>
              <a:rPr lang="ko-KR" altLang="en-US" sz="1200" b="1" dirty="0" err="1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솔버</a:t>
            </a: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 구현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endParaRPr lang="en-US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endParaRPr lang="en-US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40000"/>
              </a:lnSpc>
            </a:pPr>
            <a:endParaRPr lang="en-US" sz="1200" b="1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BB8BCDE-06ED-1EDD-55FB-BBF089782B7A}"/>
              </a:ext>
            </a:extLst>
          </p:cNvPr>
          <p:cNvSpPr/>
          <p:nvPr/>
        </p:nvSpPr>
        <p:spPr>
          <a:xfrm>
            <a:off x="6080760" y="1325880"/>
            <a:ext cx="2743200" cy="3108960"/>
          </a:xfrm>
          <a:prstGeom prst="rect">
            <a:avLst/>
          </a:prstGeom>
          <a:solidFill>
            <a:srgbClr val="1A1F1D"/>
          </a:solidFill>
          <a:ln w="1905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DB37353-A54F-DA86-BAFC-8190568B4687}"/>
              </a:ext>
            </a:extLst>
          </p:cNvPr>
          <p:cNvSpPr/>
          <p:nvPr/>
        </p:nvSpPr>
        <p:spPr>
          <a:xfrm>
            <a:off x="6080760" y="1325880"/>
            <a:ext cx="2743200" cy="5486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71ABBE-C738-6330-5552-3BE61BD797C0}"/>
              </a:ext>
            </a:extLst>
          </p:cNvPr>
          <p:cNvSpPr/>
          <p:nvPr/>
        </p:nvSpPr>
        <p:spPr>
          <a:xfrm>
            <a:off x="6263640" y="160755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도선 연결 판정과 </a:t>
            </a:r>
            <a:endParaRPr lang="en-US" altLang="ko-KR" sz="1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770C9E-E4BB-FC1A-9F68-68D220D6FBAB}"/>
              </a:ext>
            </a:extLst>
          </p:cNvPr>
          <p:cNvSpPr/>
          <p:nvPr/>
        </p:nvSpPr>
        <p:spPr>
          <a:xfrm>
            <a:off x="6263640" y="2571750"/>
            <a:ext cx="2377440" cy="186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도선 교차 판정 오류 해결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시뮬레이션 전 에러 잡기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endParaRPr lang="en-US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endParaRPr lang="en-US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틀린 결과를 조용히 보여주기보다</a:t>
            </a:r>
            <a:endParaRPr lang="en-US" altLang="ko-KR" sz="1200" b="1" dirty="0">
              <a:solidFill>
                <a:srgbClr val="A5B4AA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srgbClr val="A5B4AA"/>
                </a:solidFill>
                <a:latin typeface="Calibri" pitchFamily="34" charset="0"/>
                <a:cs typeface="Calibri" pitchFamily="34" charset="-120"/>
              </a:rPr>
              <a:t>회로의 오류를 진단하도록 설계</a:t>
            </a:r>
            <a:endParaRPr lang="en-US" sz="1200" b="1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0E1B1A25-2092-86FD-7D7B-1A2B4B7E5677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F66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07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8A02E00E-5A07-5023-DE40-63A8EF2E671A}"/>
              </a:ext>
            </a:extLst>
          </p:cNvPr>
          <p:cNvGrpSpPr/>
          <p:nvPr/>
        </p:nvGrpSpPr>
        <p:grpSpPr>
          <a:xfrm>
            <a:off x="1558855" y="1120736"/>
            <a:ext cx="2651760" cy="1691640"/>
            <a:chOff x="457200" y="2606040"/>
            <a:chExt cx="2651760" cy="1691640"/>
          </a:xfrm>
        </p:grpSpPr>
        <p:sp>
          <p:nvSpPr>
            <p:cNvPr id="6" name="Shape 4"/>
            <p:cNvSpPr/>
            <p:nvPr/>
          </p:nvSpPr>
          <p:spPr>
            <a:xfrm>
              <a:off x="457200" y="2606040"/>
              <a:ext cx="2651760" cy="1691640"/>
            </a:xfrm>
            <a:prstGeom prst="rect">
              <a:avLst/>
            </a:prstGeom>
            <a:solidFill>
              <a:srgbClr val="1A1F1D"/>
            </a:solidFill>
            <a:ln w="12700">
              <a:solidFill>
                <a:srgbClr val="45D6B4">
                  <a:alpha val="40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2724912"/>
              <a:ext cx="2377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5D6B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6개 회로</a:t>
              </a: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94360" y="3105979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Wheatstone · Maxwell · Kelvin </a:t>
              </a:r>
            </a:p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 err="1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트랜지스터</a:t>
              </a:r>
              <a:r>
                <a:rPr lang="en-US" sz="1200" dirty="0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· RC · PSpice</a:t>
              </a:r>
              <a:endParaRPr lang="en-US" sz="1200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8285B22-A546-E024-53BC-EB3BE8411D61}"/>
              </a:ext>
            </a:extLst>
          </p:cNvPr>
          <p:cNvGrpSpPr/>
          <p:nvPr/>
        </p:nvGrpSpPr>
        <p:grpSpPr>
          <a:xfrm>
            <a:off x="4933386" y="1090919"/>
            <a:ext cx="2651760" cy="1691640"/>
            <a:chOff x="3246120" y="2606040"/>
            <a:chExt cx="2651760" cy="1691640"/>
          </a:xfrm>
        </p:grpSpPr>
        <p:sp>
          <p:nvSpPr>
            <p:cNvPr id="9" name="Shape 7"/>
            <p:cNvSpPr/>
            <p:nvPr/>
          </p:nvSpPr>
          <p:spPr>
            <a:xfrm>
              <a:off x="3246120" y="2606040"/>
              <a:ext cx="2651760" cy="1691640"/>
            </a:xfrm>
            <a:prstGeom prst="rect">
              <a:avLst/>
            </a:prstGeom>
            <a:solidFill>
              <a:srgbClr val="1A1F1D"/>
            </a:solidFill>
            <a:ln w="12700">
              <a:solidFill>
                <a:srgbClr val="45D6B4">
                  <a:alpha val="40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3383280" y="2724912"/>
              <a:ext cx="2377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5D6B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표준 라이브러리</a:t>
              </a: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383280" y="3166209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3 + tkinter만으로 </a:t>
              </a:r>
              <a:r>
                <a:rPr lang="en-US" sz="1200" dirty="0" err="1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구현된</a:t>
              </a:r>
              <a:r>
                <a:rPr lang="en-US" sz="1200" dirty="0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 err="1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완전한</a:t>
              </a:r>
              <a:r>
                <a:rPr lang="en-US" sz="1200" dirty="0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데스크톱 앱</a:t>
              </a:r>
              <a:endParaRPr lang="en-US" sz="12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7027692-0A89-2B03-E7D7-000D44612BA4}"/>
              </a:ext>
            </a:extLst>
          </p:cNvPr>
          <p:cNvGrpSpPr/>
          <p:nvPr/>
        </p:nvGrpSpPr>
        <p:grpSpPr>
          <a:xfrm>
            <a:off x="1558855" y="3058072"/>
            <a:ext cx="2651760" cy="1691640"/>
            <a:chOff x="6035040" y="2606040"/>
            <a:chExt cx="2651760" cy="1691640"/>
          </a:xfrm>
        </p:grpSpPr>
        <p:sp>
          <p:nvSpPr>
            <p:cNvPr id="12" name="Shape 10"/>
            <p:cNvSpPr/>
            <p:nvPr/>
          </p:nvSpPr>
          <p:spPr>
            <a:xfrm>
              <a:off x="6035040" y="2606040"/>
              <a:ext cx="2651760" cy="1691640"/>
            </a:xfrm>
            <a:prstGeom prst="rect">
              <a:avLst/>
            </a:prstGeom>
            <a:solidFill>
              <a:srgbClr val="1A1F1D"/>
            </a:solidFill>
            <a:ln w="12700">
              <a:solidFill>
                <a:srgbClr val="45D6B4">
                  <a:alpha val="40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6172200" y="2724912"/>
              <a:ext cx="2377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45D6B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실시간 시뮬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106201" y="3075565"/>
              <a:ext cx="2504661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 ms 틱 루프 &amp; </a:t>
              </a:r>
            </a:p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 err="1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슬라이딩</a:t>
              </a:r>
              <a:r>
                <a:rPr lang="en-US" sz="1200" dirty="0">
                  <a:solidFill>
                    <a:srgbClr val="A5B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그래프로 즉각적인 피드백</a:t>
              </a:r>
              <a:endParaRPr lang="en-US" sz="1200" dirty="0"/>
            </a:p>
          </p:txBody>
        </p:sp>
      </p:grpSp>
      <p:sp>
        <p:nvSpPr>
          <p:cNvPr id="18" name="Text 1">
            <a:extLst>
              <a:ext uri="{FF2B5EF4-FFF2-40B4-BE49-F238E27FC236}">
                <a16:creationId xmlns:a16="http://schemas.microsoft.com/office/drawing/2014/main" id="{D80476FF-9C56-F2D1-596D-37B594BCCC7C}"/>
              </a:ext>
            </a:extLst>
          </p:cNvPr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기술사항</a:t>
            </a:r>
            <a:endParaRPr lang="en-US" sz="30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66B1A12-9126-9E78-DC2F-FFBD4C791146}"/>
              </a:ext>
            </a:extLst>
          </p:cNvPr>
          <p:cNvGrpSpPr/>
          <p:nvPr/>
        </p:nvGrpSpPr>
        <p:grpSpPr>
          <a:xfrm>
            <a:off x="4933386" y="3058072"/>
            <a:ext cx="2651760" cy="1691640"/>
            <a:chOff x="6035040" y="2606040"/>
            <a:chExt cx="2651760" cy="1691640"/>
          </a:xfrm>
        </p:grpSpPr>
        <p:sp>
          <p:nvSpPr>
            <p:cNvPr id="23" name="Shape 10">
              <a:extLst>
                <a:ext uri="{FF2B5EF4-FFF2-40B4-BE49-F238E27FC236}">
                  <a16:creationId xmlns:a16="http://schemas.microsoft.com/office/drawing/2014/main" id="{C7E27FF8-6903-3965-BB0F-93F34CDD41A0}"/>
                </a:ext>
              </a:extLst>
            </p:cNvPr>
            <p:cNvSpPr/>
            <p:nvPr/>
          </p:nvSpPr>
          <p:spPr>
            <a:xfrm>
              <a:off x="6035040" y="2606040"/>
              <a:ext cx="2651760" cy="1691640"/>
            </a:xfrm>
            <a:prstGeom prst="rect">
              <a:avLst/>
            </a:prstGeom>
            <a:solidFill>
              <a:srgbClr val="1A1F1D"/>
            </a:solidFill>
            <a:ln w="12700">
              <a:solidFill>
                <a:srgbClr val="45D6B4">
                  <a:alpha val="40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1965A6E6-66B0-92AA-4813-28950C120B70}"/>
                </a:ext>
              </a:extLst>
            </p:cNvPr>
            <p:cNvSpPr/>
            <p:nvPr/>
          </p:nvSpPr>
          <p:spPr>
            <a:xfrm>
              <a:off x="6172200" y="2724912"/>
              <a:ext cx="2377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b="1" dirty="0">
                  <a:solidFill>
                    <a:srgbClr val="45D6B4"/>
                  </a:solidFill>
                  <a:latin typeface="Calibri" pitchFamily="34" charset="0"/>
                  <a:cs typeface="Calibri" pitchFamily="34" charset="-120"/>
                </a:rPr>
                <a:t>자동 계산 및 단위 변환</a:t>
              </a:r>
              <a:endParaRPr lang="en-US" dirty="0"/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DE1523C6-F10B-20F1-6ABB-F3FE5A9E4857}"/>
                </a:ext>
              </a:extLst>
            </p:cNvPr>
            <p:cNvSpPr/>
            <p:nvPr/>
          </p:nvSpPr>
          <p:spPr>
            <a:xfrm>
              <a:off x="6172200" y="3218688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5000"/>
                </a:lnSpc>
                <a:buNone/>
              </a:pPr>
              <a:endParaRPr lang="en-US" sz="1200" dirty="0"/>
            </a:p>
          </p:txBody>
        </p:sp>
      </p:grpSp>
      <p:sp>
        <p:nvSpPr>
          <p:cNvPr id="26" name="Text 12">
            <a:extLst>
              <a:ext uri="{FF2B5EF4-FFF2-40B4-BE49-F238E27FC236}">
                <a16:creationId xmlns:a16="http://schemas.microsoft.com/office/drawing/2014/main" id="{227E1736-C1AB-5155-D775-660977FF8F62}"/>
              </a:ext>
            </a:extLst>
          </p:cNvPr>
          <p:cNvSpPr/>
          <p:nvPr/>
        </p:nvSpPr>
        <p:spPr>
          <a:xfrm>
            <a:off x="5009323" y="3593593"/>
            <a:ext cx="25046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Weaston</a:t>
            </a:r>
            <a:r>
              <a:rPr 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Maxwell </a:t>
            </a:r>
            <a:r>
              <a:rPr lang="ko-KR" alt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평형 조건 </a:t>
            </a:r>
            <a:r>
              <a:rPr lang="en-US" altLang="ko-KR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altLang="ko-KR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</a:t>
            </a:r>
            <a:r>
              <a:rPr lang="ko-KR" alt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단자 보정</a:t>
            </a:r>
            <a:r>
              <a:rPr lang="en-US" altLang="ko-KR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ko-KR" alt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전류 단위 자동 변환</a:t>
            </a:r>
            <a:endParaRPr lang="en-US" sz="12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8C818564-699E-33E3-FA4A-C36CA100693F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C95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6대 실습 모듈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7334" y="1074153"/>
            <a:ext cx="2414502" cy="1597533"/>
          </a:xfrm>
          <a:prstGeom prst="rect">
            <a:avLst/>
          </a:prstGeom>
          <a:solidFill>
            <a:srgbClr val="1A1F1D"/>
          </a:solidFill>
          <a:ln w="19050">
            <a:solidFill>
              <a:srgbClr val="45D6B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47334" y="1074153"/>
            <a:ext cx="2414502" cy="43932"/>
          </a:xfrm>
          <a:prstGeom prst="rect">
            <a:avLst/>
          </a:prstGeom>
          <a:solidFill>
            <a:srgbClr val="45D6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85871" y="1233906"/>
            <a:ext cx="2137428" cy="359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Wheatstone 브리지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9829" y="1593351"/>
            <a:ext cx="2137428" cy="91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평형 조건으로 미지 저항 측정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749" y="1074153"/>
            <a:ext cx="2414502" cy="1597533"/>
          </a:xfrm>
          <a:prstGeom prst="rect">
            <a:avLst/>
          </a:prstGeom>
          <a:solidFill>
            <a:srgbClr val="1A1F1D"/>
          </a:solidFill>
          <a:ln w="19050">
            <a:solidFill>
              <a:srgbClr val="FF7F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364749" y="1074153"/>
            <a:ext cx="2414502" cy="43932"/>
          </a:xfrm>
          <a:prstGeom prst="rect">
            <a:avLst/>
          </a:prstGeom>
          <a:solidFill>
            <a:srgbClr val="FF7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03286" y="1233906"/>
            <a:ext cx="2137428" cy="359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 브리지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7244" y="1593351"/>
            <a:ext cx="2137428" cy="91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복소 평형으로 인덕턴스 측정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82164" y="1074153"/>
            <a:ext cx="2414502" cy="1597533"/>
          </a:xfrm>
          <a:prstGeom prst="rect">
            <a:avLst/>
          </a:prstGeom>
          <a:solidFill>
            <a:srgbClr val="1A1F1D"/>
          </a:solidFill>
          <a:ln w="19050">
            <a:solidFill>
              <a:srgbClr val="F0C9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882164" y="1074153"/>
            <a:ext cx="2414502" cy="43932"/>
          </a:xfrm>
          <a:prstGeom prst="rect">
            <a:avLst/>
          </a:prstGeom>
          <a:solidFill>
            <a:srgbClr val="F0C9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24659" y="1233906"/>
            <a:ext cx="2137428" cy="359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더블 브리지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24659" y="1593351"/>
            <a:ext cx="2137428" cy="91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저저항 측정, 연결 저항 보정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7334" y="2831439"/>
            <a:ext cx="2414502" cy="1597533"/>
          </a:xfrm>
          <a:prstGeom prst="rect">
            <a:avLst/>
          </a:prstGeom>
          <a:solidFill>
            <a:srgbClr val="1A1F1D"/>
          </a:solidFill>
          <a:ln w="19050">
            <a:solidFill>
              <a:srgbClr val="6ECB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47334" y="2831439"/>
            <a:ext cx="2414502" cy="43932"/>
          </a:xfrm>
          <a:prstGeom prst="rect">
            <a:avLst/>
          </a:prstGeom>
          <a:solidFill>
            <a:srgbClr val="6ECB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85871" y="3031131"/>
            <a:ext cx="2137428" cy="359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트랜지스터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3990" y="3625692"/>
            <a:ext cx="2137428" cy="41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바이어스·스위치·β </a:t>
            </a:r>
            <a:r>
              <a:rPr lang="en-US" sz="1200" dirty="0" err="1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</a:t>
            </a:r>
            <a:r>
              <a:rPr 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4749" y="2831439"/>
            <a:ext cx="2414502" cy="1597533"/>
          </a:xfrm>
          <a:prstGeom prst="rect">
            <a:avLst/>
          </a:prstGeom>
          <a:solidFill>
            <a:srgbClr val="1A1F1D"/>
          </a:solidFill>
          <a:ln w="19050">
            <a:solidFill>
              <a:srgbClr val="9AD9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364749" y="2831439"/>
            <a:ext cx="2414502" cy="43932"/>
          </a:xfrm>
          <a:prstGeom prst="rect">
            <a:avLst/>
          </a:prstGeom>
          <a:solidFill>
            <a:srgbClr val="9AD9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507244" y="3031131"/>
            <a:ext cx="2137428" cy="359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AD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회로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04331" y="3350637"/>
            <a:ext cx="2374920" cy="91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충/방전 곡선 &amp; τ 마커 실시간 표시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82164" y="2831439"/>
            <a:ext cx="2414502" cy="1597533"/>
          </a:xfrm>
          <a:prstGeom prst="rect">
            <a:avLst/>
          </a:prstGeom>
          <a:solidFill>
            <a:srgbClr val="1A1F1D"/>
          </a:solidFill>
          <a:ln w="1905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882164" y="2831439"/>
            <a:ext cx="2414502" cy="43932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24659" y="3031131"/>
            <a:ext cx="2137428" cy="359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PSpice Lite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21746" y="3350637"/>
            <a:ext cx="2374920" cy="91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소자 배치 후 노드 전압·전류 계산</a:t>
            </a:r>
            <a:endParaRPr lang="en-US" sz="12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4F0E3EA1-5364-17E8-E4C1-74EF43D3FAF2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ECBF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sz="30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3840480" cy="3840480"/>
          </a:xfrm>
          <a:prstGeom prst="rect">
            <a:avLst/>
          </a:prstGeom>
          <a:solidFill>
            <a:srgbClr val="1A222D"/>
          </a:solidFill>
          <a:ln w="12700">
            <a:solidFill>
              <a:srgbClr val="2D3A4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모듈 구성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5D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bridgelab/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230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__init__.py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theme.py       # 색상·폰트 상수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894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widgets.py     # 공용 UI 컴포넌트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322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graphs.py      # RollingGraph, LoadLineGraph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5557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menu.py        # 앱 진입·메뉴 화면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5D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circuits/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0220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wheatstone.py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552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maxwell.py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4884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kelvin.py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7216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transistor.py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9547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rc.py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1879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 pspice_lite.py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896112"/>
            <a:ext cx="4434840" cy="3840480"/>
          </a:xfrm>
          <a:prstGeom prst="rect">
            <a:avLst/>
          </a:prstGeom>
          <a:solidFill>
            <a:srgbClr val="1A222D"/>
          </a:solidFill>
          <a:ln w="12700">
            <a:solidFill>
              <a:srgbClr val="2D3A4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1417320"/>
            <a:ext cx="347472" cy="347472"/>
          </a:xfrm>
          <a:prstGeom prst="ellipse">
            <a:avLst/>
          </a:prstGeom>
          <a:solidFill>
            <a:srgbClr val="F0C95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10912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책임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16550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회로별 독립 모듈 — 파라미터·시뮬레이션·UI를 한 파일에 캡슐화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221992"/>
            <a:ext cx="347472" cy="347472"/>
          </a:xfrm>
          <a:prstGeom prst="ellipse">
            <a:avLst/>
          </a:prstGeom>
          <a:solidFill>
            <a:srgbClr val="F0C95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10912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공용 컴포넌트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24597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widgets.py의 CanvasSlider, CompactMetricBox 등을 모든 회로가 재사용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026664"/>
            <a:ext cx="347472" cy="347472"/>
          </a:xfrm>
          <a:prstGeom prst="ellipse">
            <a:avLst/>
          </a:prstGeom>
          <a:solidFill>
            <a:srgbClr val="F0C95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3008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루프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10912" y="32644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ms 틱으로 물리 상태 갱신 → RollingGraph에 샘플 </a:t>
            </a:r>
            <a:r>
              <a:rPr lang="en-US" sz="1000" dirty="0" err="1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0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831336"/>
            <a:ext cx="347472" cy="347472"/>
          </a:xfrm>
          <a:prstGeom prst="ellipse">
            <a:avLst/>
          </a:prstGeom>
          <a:solidFill>
            <a:srgbClr val="F0C95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7200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10912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레이아웃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10912" y="40690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 폭에 따라 1 · 3열 카드, 스위치 버튼 방향, 상단바 높이 자동 변경</a:t>
            </a:r>
            <a:endParaRPr lang="en-US" sz="100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44F27D9A-F48D-8E1A-8311-EBA968CCEE34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AD94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D227F-325A-7CEB-99F4-E246908C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ACA071D-F28B-35B1-6E23-67AFC8818D9C}"/>
              </a:ext>
            </a:extLst>
          </p:cNvPr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300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9288E9FB-0815-9184-3813-F4D13CB053C2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991623-39EB-7BD4-D051-58DBEA79FCA9}"/>
              </a:ext>
            </a:extLst>
          </p:cNvPr>
          <p:cNvSpPr txBox="1"/>
          <p:nvPr/>
        </p:nvSpPr>
        <p:spPr>
          <a:xfrm>
            <a:off x="320040" y="1601986"/>
            <a:ext cx="5905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hlinkClick r:id="rId3"/>
              </a:rPr>
              <a:t>https://github.com/wisdus1345/circuit_lab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99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6B637-E3B3-0A4B-B0D1-C48D30BBF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4084FD-F7A7-FAC7-D568-F7F92E5E77F4}"/>
              </a:ext>
            </a:extLst>
          </p:cNvPr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45D6B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86E69F-3C77-3C75-C735-68CC071B0D4A}"/>
              </a:ext>
            </a:extLst>
          </p:cNvPr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4DA3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DC9FC1-653E-7FF0-BF5A-4F87A45DF0CA}"/>
              </a:ext>
            </a:extLst>
          </p:cNvPr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5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FA1B03-27D5-F2D5-FCA9-63616C23B09C}"/>
              </a:ext>
            </a:extLst>
          </p:cNvPr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5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Lab — 회로 실습 시뮬레이터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50A0D41-D8B1-7523-9AB6-DAB817030EE0}"/>
              </a:ext>
            </a:extLst>
          </p:cNvPr>
          <p:cNvSpPr/>
          <p:nvPr/>
        </p:nvSpPr>
        <p:spPr>
          <a:xfrm>
            <a:off x="457200" y="320636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7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760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451</Words>
  <Application>Microsoft Office PowerPoint</Application>
  <PresentationFormat>화면 슬라이드 쇼(16:9)</PresentationFormat>
  <Paragraphs>118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Lab - 회로 실습 시뮬레이터</dc:title>
  <dc:subject>PptxGenJS Presentation</dc:subject>
  <dc:creator>PptxGenJS</dc:creator>
  <cp:lastModifiedBy>wisdus1345@outlook.kr</cp:lastModifiedBy>
  <cp:revision>3</cp:revision>
  <dcterms:created xsi:type="dcterms:W3CDTF">2026-06-01T03:51:57Z</dcterms:created>
  <dcterms:modified xsi:type="dcterms:W3CDTF">2026-06-07T14:59:08Z</dcterms:modified>
</cp:coreProperties>
</file>